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1A2B4C"/>
          </a:solidFill>
          <a:ln/>
        </p:spPr>
      </p:sp>
      <p:pic>
        <p:nvPicPr>
          <p:cNvPr id="4" name="Image 0" descr="/home/claude/extract/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914400" cy="978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502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IILM UNIVERSITY, GREATER NOIDA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82880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AICTE–EduSkills Virtual Internship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Program  |  Supported by Siemens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480560" y="3703320"/>
            <a:ext cx="3200400" cy="0"/>
          </a:xfrm>
          <a:prstGeom prst="line">
            <a:avLst/>
          </a:prstGeom>
          <a:noFill/>
          <a:ln w="25400">
            <a:solidFill>
              <a:srgbClr val="F2A10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1680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12080" y="3977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Srivastava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01168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Number: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12080" y="4434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25SCS1003001198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011680" y="4892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Semester: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12080" y="4892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3rd Semester, Section 2CSE2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11680" y="5349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212080" y="5349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Foundation (AICTE) — Siemens Industry Software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June –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02920" cy="502920"/>
          </a:xfrm>
          <a:prstGeom prst="ellipse">
            <a:avLst/>
          </a:prstGeom>
          <a:solidFill>
            <a:srgbClr val="0085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4447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00857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5877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00857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7307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Technologies &amp; Tools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892040"/>
            <a:ext cx="502920" cy="502920"/>
          </a:xfrm>
          <a:prstGeom prst="ellipse">
            <a:avLst/>
          </a:prstGeom>
          <a:solidFill>
            <a:srgbClr val="00857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8737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rgbClr val="00857A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14447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Week-wise Methodology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2606040"/>
            <a:ext cx="502920" cy="502920"/>
          </a:xfrm>
          <a:prstGeom prst="ellipse">
            <a:avLst/>
          </a:prstGeom>
          <a:solidFill>
            <a:srgbClr val="00857A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25877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Earned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3749040"/>
            <a:ext cx="502920" cy="502920"/>
          </a:xfrm>
          <a:prstGeom prst="ellipse">
            <a:avLst/>
          </a:prstGeom>
          <a:solidFill>
            <a:srgbClr val="00857A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37307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Grade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4892040"/>
            <a:ext cx="502920" cy="502920"/>
          </a:xfrm>
          <a:prstGeom prst="ellipse">
            <a:avLst/>
          </a:prstGeom>
          <a:solidFill>
            <a:srgbClr val="00857A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48737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Conclusion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Raj Srivastava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the Organizations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body under the Ministry of Education, Government of India, overseeing technical education.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89120" y="15087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1645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initiative connecting students to verified, structured internships.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0" y="15087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0" y="1645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Foundation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0" y="20116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ISO-certified skilling partner that designed and delivered this virtual internship program.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383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Industry Software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 supporting the Data Science Master curriculum.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0" y="32461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3383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(Altair)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37490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science platform used for all hands-on labs and certification exams.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Raj Srivastava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10698480" cy="1005840"/>
          </a:xfrm>
          <a:prstGeom prst="roundRect">
            <a:avLst>
              <a:gd name="adj" fmla="val 5455"/>
            </a:avLst>
          </a:prstGeom>
          <a:solidFill>
            <a:srgbClr val="1A2B4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1732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generate vast raw data but often lack in-house skills to convert it into actionable insight — the internship was built around solving exactly this, end to end.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business problems suited to AI/ML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clean &amp; transform raw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classification, regression &amp; clustering models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advanced automation &amp; scripting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monitor models in production-like settings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an enterprise AI platform (AI Hub)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Raj Srivastava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Scope, Technologies &amp;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data-science workflow across 8 weeks and 4 competency areas — Applications &amp; Use Cases, Data Engineering, Machine Learning, and Platform Administration — each at Professional and Master levels, within the RapidMiner ecosystem.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80760" y="1417320"/>
            <a:ext cx="0" cy="4023360"/>
          </a:xfrm>
          <a:prstGeom prst="line">
            <a:avLst/>
          </a:prstGeom>
          <a:noFill/>
          <a:ln w="12700">
            <a:solidFill>
              <a:srgbClr val="D6D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28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Studio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450592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4505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AI Hub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3072384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30723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Radoop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3694176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69417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Regex, Macros &amp; Web APIs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4315968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43159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&amp; Python integration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493776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937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&amp; tuning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Raj Srivastava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A2B4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288036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from files, databases &amp; Web APIs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97480" y="288036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104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44952" y="21945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00857A"/>
          </a:solidFill>
          <a:ln/>
        </p:spPr>
      </p:sp>
      <p:sp>
        <p:nvSpPr>
          <p:cNvPr id="8" name="Text 6"/>
          <p:cNvSpPr/>
          <p:nvPr/>
        </p:nvSpPr>
        <p:spPr>
          <a:xfrm>
            <a:off x="3136392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54680" y="288036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Cleansing, transformation &amp; feature engineering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10912" y="288036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104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358384" y="21945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A2B4C"/>
          </a:solidFill>
          <a:ln/>
        </p:spPr>
      </p:sp>
      <p:sp>
        <p:nvSpPr>
          <p:cNvPr id="12" name="Text 10"/>
          <p:cNvSpPr/>
          <p:nvPr/>
        </p:nvSpPr>
        <p:spPr>
          <a:xfrm>
            <a:off x="5449824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68112" y="288036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validation &amp; parameter optimization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24344" y="288036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104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671816" y="21945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00857A"/>
          </a:solidFill>
          <a:ln/>
        </p:spPr>
      </p:sp>
      <p:sp>
        <p:nvSpPr>
          <p:cNvPr id="16" name="Text 14"/>
          <p:cNvSpPr/>
          <p:nvPr/>
        </p:nvSpPr>
        <p:spPr>
          <a:xfrm>
            <a:off x="7763256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81544" y="288036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&amp; real-time scoring via AI Hub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37776" y="288036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104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985248" y="21945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A2B4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76688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94976" y="288036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marketplace &amp; enterprise operations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pipeline mirroring a real enterprise data-science stack, taught progressively across the 8-week program.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Raj Srivastava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Week-wise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34440" y="1463040"/>
            <a:ext cx="0" cy="4892040"/>
          </a:xfrm>
          <a:prstGeom prst="line">
            <a:avLst/>
          </a:prstGeom>
          <a:noFill/>
          <a:ln w="25400">
            <a:solidFill>
              <a:srgbClr val="D6DC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417320"/>
            <a:ext cx="457200" cy="457200"/>
          </a:xfrm>
          <a:prstGeom prst="ellipse">
            <a:avLst/>
          </a:prstGeom>
          <a:solidFill>
            <a:srgbClr val="F2A1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91640" y="143560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 – Professional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05840" y="2039112"/>
            <a:ext cx="457200" cy="457200"/>
          </a:xfrm>
          <a:prstGeom prst="ellipse">
            <a:avLst/>
          </a:prstGeom>
          <a:solidFill>
            <a:srgbClr val="F2A1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20574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– Professional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05840" y="2660904"/>
            <a:ext cx="457200" cy="457200"/>
          </a:xfrm>
          <a:prstGeom prst="ellipse">
            <a:avLst/>
          </a:prstGeom>
          <a:solidFill>
            <a:srgbClr val="F2A1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26791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– Professional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05840" y="3282696"/>
            <a:ext cx="457200" cy="457200"/>
          </a:xfrm>
          <a:prstGeom prst="ellipse">
            <a:avLst/>
          </a:prstGeom>
          <a:solidFill>
            <a:srgbClr val="F2A1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330098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– Master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05840" y="3904488"/>
            <a:ext cx="457200" cy="457200"/>
          </a:xfrm>
          <a:prstGeom prst="ellipse">
            <a:avLst/>
          </a:prstGeom>
          <a:solidFill>
            <a:srgbClr val="F2A1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392277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– Master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05840" y="4526280"/>
            <a:ext cx="457200" cy="457200"/>
          </a:xfrm>
          <a:prstGeom prst="ellipse">
            <a:avLst/>
          </a:prstGeom>
          <a:solidFill>
            <a:srgbClr val="F2A1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91640" y="454456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 – Master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005840" y="5148072"/>
            <a:ext cx="457200" cy="457200"/>
          </a:xfrm>
          <a:prstGeom prst="ellipse">
            <a:avLst/>
          </a:prstGeom>
          <a:solidFill>
            <a:srgbClr val="F2A1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91640" y="51663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 – Master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05840" y="5769864"/>
            <a:ext cx="457200" cy="457200"/>
          </a:xfrm>
          <a:prstGeom prst="ellipse">
            <a:avLst/>
          </a:prstGeom>
          <a:solidFill>
            <a:srgbClr val="F2A1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769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91640" y="578815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 – Master + Final Assessment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Raj Srivastava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Certifications Earned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RapidMiner certifications across Professional &amp; Master levels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1A2B4C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673352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77824" y="24963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49631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95144" y="150876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1A2B4C"/>
          </a:solidFill>
          <a:ln/>
        </p:spPr>
      </p:sp>
      <p:sp>
        <p:nvSpPr>
          <p:cNvPr id="9" name="Text 7"/>
          <p:cNvSpPr/>
          <p:nvPr/>
        </p:nvSpPr>
        <p:spPr>
          <a:xfrm>
            <a:off x="2368296" y="1673352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24963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368296" y="249631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04488" y="150876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1A2B4C"/>
          </a:solidFill>
          <a:ln/>
        </p:spPr>
      </p:sp>
      <p:sp>
        <p:nvSpPr>
          <p:cNvPr id="13" name="Text 11"/>
          <p:cNvSpPr/>
          <p:nvPr/>
        </p:nvSpPr>
        <p:spPr>
          <a:xfrm>
            <a:off x="3977640" y="1673352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96512" y="24963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249631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13832" y="150876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0857A"/>
          </a:solidFill>
          <a:ln/>
        </p:spPr>
      </p:sp>
      <p:sp>
        <p:nvSpPr>
          <p:cNvPr id="17" name="Text 15"/>
          <p:cNvSpPr/>
          <p:nvPr/>
        </p:nvSpPr>
        <p:spPr>
          <a:xfrm>
            <a:off x="5586984" y="1673352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05856" y="24963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586984" y="249631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23176" y="150876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0857A"/>
          </a:solidFill>
          <a:ln/>
        </p:spPr>
      </p:sp>
      <p:sp>
        <p:nvSpPr>
          <p:cNvPr id="21" name="Text 19"/>
          <p:cNvSpPr/>
          <p:nvPr/>
        </p:nvSpPr>
        <p:spPr>
          <a:xfrm>
            <a:off x="7196328" y="1673352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0" y="24963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196328" y="249631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732520" y="150876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0857A"/>
          </a:solidFill>
          <a:ln/>
        </p:spPr>
      </p:sp>
      <p:sp>
        <p:nvSpPr>
          <p:cNvPr id="25" name="Text 23"/>
          <p:cNvSpPr/>
          <p:nvPr/>
        </p:nvSpPr>
        <p:spPr>
          <a:xfrm>
            <a:off x="8805672" y="1673352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24544" y="24963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805672" y="249631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341864" y="150876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0857A"/>
          </a:solidFill>
          <a:ln/>
        </p:spPr>
      </p:sp>
      <p:sp>
        <p:nvSpPr>
          <p:cNvPr id="29" name="Text 27"/>
          <p:cNvSpPr/>
          <p:nvPr/>
        </p:nvSpPr>
        <p:spPr>
          <a:xfrm>
            <a:off x="10415016" y="1673352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533888" y="24963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415016" y="249631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Internship Grade:  B  (Good, 60–69)</a:t>
            </a:r>
            <a:endParaRPr lang="en-US" sz="1600" dirty="0"/>
          </a:p>
        </p:txBody>
      </p:sp>
      <p:pic>
        <p:nvPicPr>
          <p:cNvPr id="33" name="Image 0" descr="/home/claude/imgs/main_cert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61104" y="3794760"/>
            <a:ext cx="2148840" cy="303580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Raj Srivastava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411480" cy="411480"/>
          </a:xfrm>
          <a:prstGeom prst="ellipse">
            <a:avLst/>
          </a:prstGeom>
          <a:solidFill>
            <a:srgbClr val="00857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5544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AICTE–EduSkills internship completed successfully with an overall Grade 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651760"/>
            <a:ext cx="411480" cy="411480"/>
          </a:xfrm>
          <a:prstGeom prst="ellipse">
            <a:avLst/>
          </a:prstGeom>
          <a:solidFill>
            <a:srgbClr val="0085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4688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working proficiency across the data science lifecycle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0857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3832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verifiable, industry-recognised RapidMiner credentials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480560"/>
            <a:ext cx="411480" cy="411480"/>
          </a:xfrm>
          <a:prstGeom prst="ellipse">
            <a:avLst/>
          </a:prstGeom>
          <a:solidFill>
            <a:srgbClr val="00857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2976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employability through demonstrable, real-world skills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21208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394960"/>
            <a:ext cx="411480" cy="411480"/>
          </a:xfrm>
          <a:prstGeom prst="ellipse">
            <a:avLst/>
          </a:prstGeom>
          <a:solidFill>
            <a:srgbClr val="00857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394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2120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foundation for applying data science in future academic &amp; personal projects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Raj Srivastava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Learnings &amp; 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strengthened my understanding of the full data science lifecycle — from framing a business problem to deploying and administering a live model. Working within the RapidMiner ecosystem gave me hands-on exposure to industry-grade tooling well beyond classroom theory, and the structured, assessment-driven format built both technical depth and confidence.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19050">
            <a:solidFill>
              <a:srgbClr val="F2A1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1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Srivastava  |  B.Tech CSE, 3rd Semester  |  IILM University, Greater Noida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2026-08-05T05:27:51Z</dcterms:created>
  <dcterms:modified xsi:type="dcterms:W3CDTF">2026-08-05T05:27:51Z</dcterms:modified>
</cp:coreProperties>
</file>